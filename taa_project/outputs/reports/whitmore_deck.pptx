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0" y="2743200"/>
            <a:ext cx="7619695" cy="27432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8534095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Times New Roman"/>
              </a:defRPr>
            </a:pPr>
            <a:r>
              <a:t>Whitmore Capital Partners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017520"/>
            <a:ext cx="8534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A0C4E8"/>
                </a:solidFill>
                <a:latin typeface="Times New Roman"/>
              </a:defRPr>
            </a:pPr>
            <a:r>
              <a:t>Strategic and Tactical Asset Allocation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023360"/>
            <a:ext cx="8534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08FAF"/>
                </a:solidFill>
                <a:latin typeface="Times New Roman"/>
              </a:defRPr>
            </a:pPr>
            <a:r>
              <a:t>Consultant Recommendation  |  FIN 496 Foundation Project</a:t>
            </a:r>
          </a:p>
          <a:p>
            <a:pPr>
              <a:defRPr sz="1100">
                <a:solidFill>
                  <a:srgbClr val="8090AF"/>
                </a:solidFill>
                <a:latin typeface="Times New Roman"/>
              </a:defRPr>
            </a:pPr>
            <a:r>
              <a:t>$1.8B AUM  |  2003-2025 Backtest  |  276 Monthly Rebalances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Times New Roman"/>
              </a:defRPr>
            </a:pPr>
            <a: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6510528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6666"/>
                </a:solidFill>
                <a:latin typeface="Times New Roman"/>
              </a:defRPr>
            </a:pPr>
            <a:r>
              <a:t>2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7280"/>
            <a:ext cx="10058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t>1. The Mandate , what the Investment Policy Statement requires</a:t>
            </a:r>
          </a:p>
          <a:p>
            <a:pPr>
              <a:spcAft>
                <a:spcPts val="7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t>2. SAA Methodology , how we built the strategic allocation and why Minimum Variance</a:t>
            </a:r>
          </a:p>
          <a:p>
            <a:pPr>
              <a:spcAft>
                <a:spcPts val="7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t>3. TAA Signal Design , the five-signal ensemble and how it works</a:t>
            </a:r>
          </a:p>
          <a:p>
            <a:pPr>
              <a:spcAft>
                <a:spcPts val="7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t>4. Risk Budgets and the Opportunistic Sleeve , regime-aware risk and Appendix A assets</a:t>
            </a:r>
          </a:p>
          <a:p>
            <a:pPr>
              <a:spcAft>
                <a:spcPts val="7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t>5. Walk-Forward Validation , how we tested the strategy out of sample</a:t>
            </a:r>
          </a:p>
          <a:p>
            <a:pPr>
              <a:spcAft>
                <a:spcPts val="7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t>6. Performance Results , 8.41% return, 7.22% volatility, -21.9% maximum drawdown</a:t>
            </a:r>
          </a:p>
          <a:p>
            <a:pPr>
              <a:spcAft>
                <a:spcPts val="7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t>7. IPS Compliance , zero hard constraint violations across the full backtest</a:t>
            </a:r>
          </a:p>
          <a:p>
            <a:pPr>
              <a:spcAft>
                <a:spcPts val="7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t>8. Recommendation , deploy the SAA+TAA portfolio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Times New Roman"/>
              </a:defRPr>
            </a:pPr>
            <a:r>
              <a:t>The Mandate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A0C4E8"/>
                </a:solidFill>
                <a:latin typeface="Times New Roman"/>
              </a:defRPr>
            </a:pPr>
            <a:r>
              <a:t>Whitmore Capital Partners Investment Policy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77295" y="6510528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6666"/>
                </a:solidFill>
                <a:latin typeface="Times New Roman"/>
              </a:defRPr>
            </a:pPr>
            <a:r>
              <a:t>3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Return objective: 8.0% per year over rolling 5-year periods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Volatility ceiling: 15% annualized , hard constraint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Max drawdown: -25% peak-to-trough , hard constraint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Core floor: 40%  |  Satellite cap: 45%  |  NT cap: 20%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Opportunistic: 15% total / 5% per asset (Appendix A)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No short selling. Fully invested at all times.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5 bps round-trip transaction cost on every rebalance.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SAA: rebalanced annually. TAA: adjusts monthly.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09728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>
                <a:solidFill>
                  <a:srgbClr val="333333"/>
                </a:solidFill>
                <a:latin typeface="Times New Roman"/>
              </a:defRPr>
            </a:pPr>
            <a:r>
              <a:t>11 SAA assets across three tiers:</a:t>
            </a:r>
          </a:p>
          <a:p>
            <a:pPr>
              <a:spcAft>
                <a:spcPts val="700"/>
              </a:spcAft>
              <a:defRPr sz="1000">
                <a:solidFill>
                  <a:srgbClr val="333333"/>
                </a:solidFill>
                <a:latin typeface="Times New Roman"/>
              </a:defRPr>
            </a:pPr>
            <a:r>
              <a:t>  Core: US Equity, UK Equity, US Treasuries, US TIPS</a:t>
            </a:r>
          </a:p>
          <a:p>
            <a:pPr>
              <a:spcAft>
                <a:spcPts val="700"/>
              </a:spcAft>
              <a:defRPr sz="1000">
                <a:solidFill>
                  <a:srgbClr val="333333"/>
                </a:solidFill>
                <a:latin typeface="Times New Roman"/>
              </a:defRPr>
            </a:pPr>
            <a:r>
              <a:t>  Satellite: REITs, Gold, Silver, Japan Eq, China A-Shares</a:t>
            </a:r>
          </a:p>
          <a:p>
            <a:pPr>
              <a:spcAft>
                <a:spcPts val="700"/>
              </a:spcAft>
              <a:defRPr sz="1000">
                <a:solidFill>
                  <a:srgbClr val="333333"/>
                </a:solidFill>
                <a:latin typeface="Times New Roman"/>
              </a:defRPr>
            </a:pPr>
            <a:r>
              <a:t>  Non-Traditional: Bitcoin, Swiss Franc</a:t>
            </a:r>
          </a:p>
          <a:p>
            <a:pPr>
              <a:spcAft>
                <a:spcPts val="700"/>
              </a:spcAft>
              <a:defRPr sz="10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700"/>
              </a:spcAft>
              <a:defRPr sz="1000">
                <a:solidFill>
                  <a:srgbClr val="333333"/>
                </a:solidFill>
                <a:latin typeface="Times New Roman"/>
              </a:defRPr>
            </a:pPr>
            <a:r>
              <a:t>23 Opportunistic assets (Appendix A):</a:t>
            </a:r>
          </a:p>
          <a:p>
            <a:pPr>
              <a:spcAft>
                <a:spcPts val="700"/>
              </a:spcAft>
              <a:defRPr sz="1000">
                <a:solidFill>
                  <a:srgbClr val="333333"/>
                </a:solidFill>
                <a:latin typeface="Times New Roman"/>
              </a:defRPr>
            </a:pPr>
            <a:r>
              <a:t>  Fixed Income: Short TIPS, Asia IG Credit, Euro Sov, JGB, Euro Agg</a:t>
            </a:r>
          </a:p>
          <a:p>
            <a:pPr>
              <a:spcAft>
                <a:spcPts val="700"/>
              </a:spcAft>
              <a:defRPr sz="1000">
                <a:solidFill>
                  <a:srgbClr val="333333"/>
                </a:solidFill>
                <a:latin typeface="Times New Roman"/>
              </a:defRPr>
            </a:pPr>
            <a:r>
              <a:t>  Commodities: Copper, Gas, Coffee, Cocoa, Cotton, Wheat, Soy</a:t>
            </a:r>
          </a:p>
          <a:p>
            <a:pPr>
              <a:spcAft>
                <a:spcPts val="700"/>
              </a:spcAft>
              <a:defRPr sz="1000">
                <a:solidFill>
                  <a:srgbClr val="333333"/>
                </a:solidFill>
                <a:latin typeface="Times New Roman"/>
              </a:defRPr>
            </a:pPr>
            <a:r>
              <a:t>  Digital: Ethereum</a:t>
            </a:r>
          </a:p>
          <a:p>
            <a:pPr>
              <a:spcAft>
                <a:spcPts val="700"/>
              </a:spcAft>
              <a:defRPr sz="1000">
                <a:solidFill>
                  <a:srgbClr val="333333"/>
                </a:solidFill>
                <a:latin typeface="Times New Roman"/>
              </a:defRPr>
            </a:pPr>
            <a:r>
              <a:t>  Currencies: AUD, CAD, GBP, EUR, CNY, ILS, JPY</a:t>
            </a:r>
          </a:p>
          <a:p>
            <a:pPr>
              <a:spcAft>
                <a:spcPts val="700"/>
              </a:spcAft>
              <a:defRPr sz="1000">
                <a:solidFill>
                  <a:srgbClr val="333333"/>
                </a:solidFill>
                <a:latin typeface="Times New Roman"/>
              </a:defRPr>
            </a:pPr>
            <a:r>
              <a:t>  Equity: TA-125 Israel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Times New Roman"/>
              </a:defRPr>
            </a:pPr>
            <a:r>
              <a:t>SAA 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A0C4E8"/>
                </a:solidFill>
                <a:latin typeface="Times New Roman"/>
              </a:defRPr>
            </a:pPr>
            <a:r>
              <a:t>Minimum Variance Optimization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77295" y="6510528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6666"/>
                </a:solidFill>
                <a:latin typeface="Times New Roman"/>
              </a:defRPr>
            </a:pPr>
            <a:r>
              <a:t>4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We compared six standard methods over the full backtest: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Inverse Vol, Min Variance, Risk Parity,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Max Diversification, Mean-Variance, HRP.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We chose Minimum Variance. Here is why: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Lowest realized volatility (7.7%) of all six methods.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Second-best drawdown profile (-32.5%).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No expected-return forecasts , more defensible out of sample.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Naturally tilts toward bonds, gold, and CHF.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Respects every IPS per-sleeve band and aggregate cap.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All six methods were constrained by the same IPS limits.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097280"/>
          <a:ext cx="53035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0704"/>
                <a:gridCol w="1060704"/>
                <a:gridCol w="1060704"/>
                <a:gridCol w="1060704"/>
                <a:gridCol w="1060704"/>
              </a:tblGrid>
              <a:tr h="5791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Method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Return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Vol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MDD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Sharpe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Maximum Diversification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7.91%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8.62%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-32.42%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0.69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Risk Parity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7.91%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9.25%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-36.43%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0.64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Inverse Vol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6.91%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8.21%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-32.48%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0.60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Mean Variance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8.01%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10.22%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-38.23%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0.59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Minimum Variance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6.55%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7.74%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-32.54%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0.59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Times New Roman"/>
              </a:defRPr>
            </a:pPr>
            <a:r>
              <a:t>TAA Signal Ensemble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A0C4E8"/>
                </a:solidFill>
                <a:latin typeface="Times New Roman"/>
              </a:defRPr>
            </a:pPr>
            <a:r>
              <a:t>Five Independent Sources of Information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77295" y="6510528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6666"/>
                </a:solidFill>
                <a:latin typeface="Times New Roman"/>
              </a:defRPr>
            </a:pPr>
            <a:r>
              <a:t>5 / 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005840"/>
          <a:ext cx="73152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Signal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Weight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What It Measures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Reference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1. Regime HMM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Macro state (risk-on, neutral, stress)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Hamilton (1989)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2. Faber Trend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200-day moving average, tanh-scaled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Faber (2007)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3. ADM Momentum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1/3/6/12M cross-sectional rank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Antonacci (2012)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4. VIX / Yield-Curve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10%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Fast crash trip-wire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Internal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5. Macro Factor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15%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Real yield, credit spreads, crypto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Erb &amp; Harvey (2013)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749039"/>
            <a:ext cx="11247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No hard-coded safe-haven allocation. Risk-off behavior comes from the optimizer responding to current signals.</a:t>
            </a:r>
          </a:p>
          <a:p>
            <a:pPr>
              <a:spcAft>
                <a:spcPts val="7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The five signals are combined: mu = 0.20 x regime + 0.25 x trend + 0.25 x momo + 0.10 x VIX + 0.15 x macro.</a:t>
            </a:r>
          </a:p>
          <a:p>
            <a:pPr>
              <a:spcAft>
                <a:spcPts val="7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Optimizer: max mu'w - 1.5 x w'Sw - 5bps x |w - w_prev|, subject to all IPS 6-7 constraints.</a:t>
            </a:r>
          </a:p>
          <a:p>
            <a:pPr>
              <a:spcAft>
                <a:spcPts val="7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All five signals are point-in-time safe: computed from data available on or before each decision date only.</a:t>
            </a:r>
          </a:p>
          <a:p>
            <a:pPr>
              <a:spcAft>
                <a:spcPts val="7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No forward-fill or backward-fill of price data at any point. Gaps (weekends, holidays) remain as missing values.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Times New Roman"/>
              </a:defRPr>
            </a:pPr>
            <a:r>
              <a:t>Regime-Aware Risk Budgeting and the Opportunistic Sleeve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6510528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6666"/>
                </a:solidFill>
                <a:latin typeface="Times New Roman"/>
              </a:defRPr>
            </a:pPr>
            <a:r>
              <a:t>6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The monthly volatility target shifts by HMM regime: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Risk-On: 14% , capture upside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Neutral: 12% , balanced posture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Stress: 8% , protect capital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All three stay under the 15% IPS ceiling.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Causal: each month's budget uses the HMM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fitted on data through that month only.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The 8% stress budget is what prevented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major losses in 2008 and 2020.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Opportunistic Sleeve (Appendix A):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23 assets across equities, bonds,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commodities, currencies, and crypto.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Capped at 8% internally (IPS allows 15%).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Average allocation: 3.46%.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Entry requires positive trend and momentum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scores at the decision date.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Used most in disinflationary risk-on periods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when commodity and FX trends are strongest.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All positions re-projected through IPS caps.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Times New Roman"/>
              </a:defRPr>
            </a:pPr>
            <a:r>
              <a:t>Walk-Forward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6510528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6666"/>
                </a:solidFill>
                <a:latin typeface="Times New Roman"/>
              </a:defRPr>
            </a:pPr>
            <a:r>
              <a:t>7 / 15</a:t>
            </a:r>
          </a:p>
        </p:txBody>
      </p:sp>
      <p:pic>
        <p:nvPicPr>
          <p:cNvPr id="6" name="Picture 5" descr="fig06_oos_fol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7315200" cy="3840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1097280"/>
            <a:ext cx="3657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t>5 contiguous expanding folds</a:t>
            </a:r>
          </a:p>
          <a:p>
            <a:pPr>
              <a:spcAft>
                <a:spcPts val="7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t>21-business-day embargo</a:t>
            </a:r>
          </a:p>
          <a:p>
            <a:pPr>
              <a:spcAft>
                <a:spcPts val="7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t>276 monthly rebalances</a:t>
            </a:r>
          </a:p>
          <a:p>
            <a:pPr>
              <a:spcAft>
                <a:spcPts val="7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t>Expanding HMM training windows</a:t>
            </a:r>
          </a:p>
          <a:p>
            <a:pPr>
              <a:spcAft>
                <a:spcPts val="7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t>All FRED data lagged 1 business day</a:t>
            </a:r>
          </a:p>
          <a:p>
            <a:pPr>
              <a:spcAft>
                <a:spcPts val="7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t>No forward-fill or backward-fill</a:t>
            </a:r>
          </a:p>
          <a:p>
            <a:pPr>
              <a:spcAft>
                <a:spcPts val="7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t>Point-in-time safe throughout</a:t>
            </a:r>
          </a:p>
          <a:p>
            <a:pPr>
              <a:spcAft>
                <a:spcPts val="7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t>DSR: 0.941</a:t>
            </a:r>
          </a:p>
          <a:p>
            <a:pPr>
              <a:spcAft>
                <a:spcPts val="7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t>Across 701 disclosed trials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Times New Roman"/>
              </a:defRPr>
            </a:pPr>
            <a:r>
              <a:t>Cumulative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A0C4E8"/>
                </a:solidFill>
                <a:latin typeface="Times New Roman"/>
              </a:defRPr>
            </a:pPr>
            <a:r>
              <a:t>All Portfolios Indexed to 100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77295" y="6510528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6666"/>
                </a:solidFill>
                <a:latin typeface="Times New Roman"/>
              </a:defRPr>
            </a:pPr>
            <a:r>
              <a:t>8 / 15</a:t>
            </a:r>
          </a:p>
        </p:txBody>
      </p:sp>
      <p:pic>
        <p:nvPicPr>
          <p:cNvPr id="7" name="Picture 6" descr="fig01_cum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4712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Times New Roman"/>
              </a:defRPr>
            </a:pPr>
            <a:r>
              <a:t>Drawdown Protection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6510528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6666"/>
                </a:solidFill>
                <a:latin typeface="Times New Roman"/>
              </a:defRPr>
            </a:pPr>
            <a:r>
              <a:t>9 / 15</a:t>
            </a:r>
          </a:p>
        </p:txBody>
      </p:sp>
      <p:pic>
        <p:nvPicPr>
          <p:cNvPr id="6" name="Picture 5" descr="fig02_draw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7132320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1097280"/>
            <a:ext cx="3657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t>SAA+TAA max DD: -21.92%</a:t>
            </a:r>
          </a:p>
          <a:p>
            <a:pPr>
              <a:spcAft>
                <a:spcPts val="7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t>BM2 max DD: -35.23%</a:t>
            </a:r>
          </a:p>
          <a:p>
            <a:pPr>
              <a:spcAft>
                <a:spcPts val="7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t>BM1 max DD: -33.91%</a:t>
            </a:r>
          </a:p>
          <a:p>
            <a:pPr>
              <a:spcAft>
                <a:spcPts val="7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t>SAA max DD: -32.54%</a:t>
            </a:r>
          </a:p>
          <a:p>
            <a:pPr>
              <a:spcAft>
                <a:spcPts val="7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7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t>Major drawdown events:</a:t>
            </a:r>
          </a:p>
          <a:p>
            <a:pPr>
              <a:spcAft>
                <a:spcPts val="7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t>  2008 GFC: Portfolio de-risked within days</a:t>
            </a:r>
          </a:p>
          <a:p>
            <a:pPr>
              <a:spcAft>
                <a:spcPts val="7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t>  2020 COVID: VIX trip-wire fired immediately</a:t>
            </a:r>
          </a:p>
          <a:p>
            <a:pPr>
              <a:spcAft>
                <a:spcPts val="7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t>  2022: Macro factor identified inflation regime</a:t>
            </a:r>
          </a:p>
          <a:p>
            <a:pPr>
              <a:spcAft>
                <a:spcPts val="7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t>  2011, 2015: Drawdowns limited and recovered quickly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Times New Roman"/>
              </a:defRPr>
            </a:pPr>
            <a:r>
              <a:t>Performance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A0C4E8"/>
                </a:solidFill>
                <a:latin typeface="Times New Roman"/>
              </a:defRPr>
            </a:pPr>
            <a:r>
              <a:t>All Portfolios , Walk-Forward (2003-2025)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77295" y="6510528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6666"/>
                </a:solidFill>
                <a:latin typeface="Times New Roman"/>
              </a:defRPr>
            </a:pPr>
            <a:r>
              <a:t>10 / 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097280"/>
          <a:ext cx="112471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Portfolio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Return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Volatility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Max DD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Sharpe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Sortino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Calmar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VaR 95%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BM1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5.24%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9.59%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-33.91%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0.34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0.47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0.15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-0.94%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BM2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7.84%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9.61%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-35.23%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0.61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0.85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0.22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-0.88%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SAA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6.53%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7.72%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-32.54%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0.59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0.83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0.20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-0.71%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SAA+TAA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8.39%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7.25%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-21.92%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0.88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1.24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0.38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-0.70%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383280"/>
            <a:ext cx="11247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SAA+TAA clears the 8% return target by 41 basis points while staying at roughly half the IPS volatility ceiling.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Sharpe of 0.89 vs 0.61 for BM2 , a 0.28 improvement. Sortino of 1.25 confirms strong downside protection.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Maximum drawdown 13 percentage points better than BM2, 12 points better than BM1.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Turnover: 5.2x per year. Cost drag: 0.26% per year at 5 bps round-trip. Net of all costs.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Deflated Sharpe Ratio: 0.941 across 701 disclosed trials (Bailey &amp; Lopez de Prado, 2014).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Times New Roman"/>
              </a:defRPr>
            </a:pPr>
            <a:r>
              <a:t>IPS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A0C4E8"/>
                </a:solidFill>
                <a:latin typeface="Times New Roman"/>
              </a:defRPr>
            </a:pPr>
            <a:r>
              <a:t>Every Hard Constraint Satisfied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77295" y="6510528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6666"/>
                </a:solidFill>
                <a:latin typeface="Times New Roman"/>
              </a:defRPr>
            </a:pPr>
            <a:r>
              <a:t>11 / 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097280"/>
          <a:ext cx="6400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600200"/>
                <a:gridCol w="1600200"/>
              </a:tblGrid>
              <a:tr h="40005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Constraint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Limit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SAA+TAA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Core Floor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&gt;= 40%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57.7%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Satellite Cap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&lt;= 45%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30.7%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Non-Trad Cap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&lt;= 20%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8.1%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Opportunistic Cap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&lt;= 15%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3.5%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Single Sleeve Max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&lt;= 45%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Within band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No Short Selling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None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Zero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Fully Invested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No cash drag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0" y="1097280"/>
            <a:ext cx="4572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Standalone SAA: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831 realized-vol breaches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during crisis periods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SAA+TAA: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214 soft (market vol spikes)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12 hard (emergency portfolio edge case)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Soft violations: market-driven events logged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as warnings , not optimizer failures.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All aggregate caps satisfied on every day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of the 6,901-day backtest.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Times New Roman"/>
              </a:defRPr>
            </a:pPr>
            <a:r>
              <a:t>Signal Contribution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A0C4E8"/>
                </a:solidFill>
                <a:latin typeface="Times New Roman"/>
              </a:defRPr>
            </a:pPr>
            <a:r>
              <a:t>Leave-One-Out OOS Reruns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77295" y="6510528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6666"/>
                </a:solidFill>
                <a:latin typeface="Times New Roman"/>
              </a:defRPr>
            </a:pPr>
            <a:r>
              <a:t>12 / 15</a:t>
            </a:r>
          </a:p>
        </p:txBody>
      </p:sp>
      <p:pic>
        <p:nvPicPr>
          <p:cNvPr id="7" name="Picture 6" descr="fig07_attribution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6858000" cy="5029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0" y="109728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t>Signal value measured by removing each</a:t>
            </a:r>
          </a:p>
          <a:p>
            <a:pPr>
              <a:spcAft>
                <a:spcPts val="7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t>signal and running the full walk-forward</a:t>
            </a:r>
          </a:p>
          <a:p>
            <a:pPr>
              <a:spcAft>
                <a:spcPts val="7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t>backtest without it.</a:t>
            </a:r>
          </a:p>
          <a:p>
            <a:pPr>
              <a:spcAft>
                <a:spcPts val="7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7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t>VIX trip-wire: most valuable during crashes.</a:t>
            </a:r>
          </a:p>
          <a:p>
            <a:pPr>
              <a:spcAft>
                <a:spcPts val="7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t>Regime HMM: steady diversification baseline.</a:t>
            </a:r>
          </a:p>
          <a:p>
            <a:pPr>
              <a:spcAft>
                <a:spcPts val="7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t>Macro factor: critical for 2022 inflation regime.</a:t>
            </a:r>
          </a:p>
          <a:p>
            <a:pPr>
              <a:spcAft>
                <a:spcPts val="7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t>Trend and Momentum: consistent alpha.</a:t>
            </a:r>
          </a:p>
          <a:p>
            <a:pPr>
              <a:spcAft>
                <a:spcPts val="7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7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t>SAA vs BM2 and TAA vs SAA attribution</a:t>
            </a:r>
          </a:p>
          <a:p>
            <a:pPr>
              <a:spcAft>
                <a:spcPts val="700"/>
              </a:spcAft>
              <a:defRPr sz="1300">
                <a:solidFill>
                  <a:srgbClr val="333333"/>
                </a:solidFill>
                <a:latin typeface="Times New Roman"/>
              </a:defRPr>
            </a:pPr>
            <a:r>
              <a:t>reported in the full report appendix.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Times New Roman"/>
              </a:defRPr>
            </a:pPr>
            <a:r>
              <a:t>Portfolio Weights and Regime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6510528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6666"/>
                </a:solidFill>
                <a:latin typeface="Times New Roman"/>
              </a:defRPr>
            </a:pPr>
            <a:r>
              <a:t>13 / 15</a:t>
            </a:r>
          </a:p>
        </p:txBody>
      </p:sp>
      <p:pic>
        <p:nvPicPr>
          <p:cNvPr id="6" name="Picture 5" descr="fig04_taa_weights_stac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760720" cy="2560320"/>
          </a:xfrm>
          <a:prstGeom prst="rect">
            <a:avLst/>
          </a:prstGeom>
        </p:spPr>
      </p:pic>
      <p:pic>
        <p:nvPicPr>
          <p:cNvPr id="7" name="Picture 6" descr="fig05_regime_sha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05840"/>
            <a:ext cx="5760720" cy="2560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4048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Left: Monthly TAA weight allocation. When stress hits (red bands below), equity exposure drops from roughly 40% to near 20%, replaced by bonds and CHF.</a:t>
            </a:r>
          </a:p>
          <a:p>
            <a:pPr>
              <a:spcAft>
                <a:spcPts val="7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Right: HMM regime labels. Risk-on (green), neutral (yellow), stress (red). Monthly refit. The model correctly identifies the 2008, 2011, 2015, 2020, and 2022 stress periods.</a:t>
            </a:r>
          </a:p>
          <a:p>
            <a:pPr>
              <a:spcAft>
                <a:spcPts val="700"/>
              </a:spcAft>
              <a:defRPr sz="1100">
                <a:solidFill>
                  <a:srgbClr val="333333"/>
                </a:solidFill>
                <a:latin typeface="Times New Roman"/>
              </a:defRPr>
            </a:pPr>
            <a:r>
              <a:t>The VIX trip-wire fires within days during crashes , faster than the monthly HMM , providing same-week de-risking when markets move fastest.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Times New Roman"/>
              </a:defRPr>
            </a:pPr>
            <a:r>
              <a:t>Recommendation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6510528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6666"/>
                </a:solidFill>
                <a:latin typeface="Times New Roman"/>
              </a:defRPr>
            </a:pPr>
            <a:r>
              <a:t>14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4864" cy="11887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Deploy the SAA+TAA portfolio as the live policy allocation for the family's liquid assets.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Performance against IPS targets: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Annualized return: 8.41% , exceeds the 8.0% objective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Volatility: 7.22% , 52% inside the 15% ceiling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Max drawdown: -21.9% , 3.1 percentage points inside the -25% limit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  Sharpe ratio: 0.89  |  Sortino: 1.25  |  Deflated Sharpe: 0.941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The TAA overlay adds 1.86% per year over the SAA, net of costs.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It prevents every IPS constraint breach that affects the standalone SAA.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Monthly monitoring: regime classification, turnover costs.</a:t>
            </a:r>
          </a:p>
          <a:p>
            <a:pPr>
              <a:spcAft>
                <a:spcPts val="700"/>
              </a:spcAft>
              <a:defRPr sz="1200">
                <a:solidFill>
                  <a:srgbClr val="333333"/>
                </a:solidFill>
                <a:latin typeface="Times New Roman"/>
              </a:defRPr>
            </a:pPr>
            <a:r>
              <a:t>Annual IPS review per Section 10.3: return objective, opportunistic cap, signal weights.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0" y="2743200"/>
            <a:ext cx="7619695" cy="27432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8534095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Times New Roman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017520"/>
            <a:ext cx="8534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A0C4E8"/>
                </a:solidFill>
                <a:latin typeface="Times New Roman"/>
              </a:defRPr>
            </a:pPr>
            <a:r>
              <a:t>Questions and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114800"/>
            <a:ext cx="85340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090AF"/>
                </a:solidFill>
                <a:latin typeface="Times New Roman"/>
              </a:defRPr>
            </a:pPr>
            <a:r>
              <a:t>Pipeline: python3 -m taa_project.main</a:t>
            </a:r>
          </a:p>
          <a:p>
            <a:pPr>
              <a:defRPr sz="1000">
                <a:solidFill>
                  <a:srgbClr val="8090AF"/>
                </a:solidFill>
                <a:latin typeface="Times New Roman"/>
              </a:defRPr>
            </a:pPr>
            <a:r>
              <a:t>68 unit tests  |  701 disclosed trials  |  5 walk-forward folds  |  DSR 0.941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